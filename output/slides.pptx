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7:</a:t>
            </a:r>
          </a:p>
          <a:p>
            <a:r>
              <a:t>Convolutional Neural Networks</a:t>
            </a:r>
          </a:p>
          <a:p>
            <a:r>
              <a:t>FFeeii--FFeeii LLii &amp;&amp; AAnnddrreejj KKaarrppaatthhyy &amp;&amp; JJuussttiinn JJoohhnnssoonn LLeeccttuurree 77 -- 1 2277 JJaann 22001166</a:t>
            </a:r>
          </a:p>
          <a:p>
            <a:r>
              <a:t>Administrative</a:t>
            </a:r>
          </a:p>
          <a:p>
            <a:r>
              <a:t>A2 is due Feb 5 (next Friday)</a:t>
            </a:r>
          </a:p>
          <a:p>
            <a:r>
              <a:t>Project proposal due Jan 30 (Saturday)</a:t>
            </a:r>
          </a:p>
          <a:p>
            <a:r>
              <a:t>- ungraded, one paragraph</a:t>
            </a:r>
          </a:p>
          <a:p>
            <a:r>
              <a:t>- feel free to give 2 options, we can try help you narrow it</a:t>
            </a:r>
          </a:p>
          <a:p>
            <a:r>
              <a:t>- What is the problem that you will be investigating? Why is it interesting?</a:t>
            </a:r>
          </a:p>
          <a:p>
            <a:r>
              <a:t>- What data will you use? If you are collecting new datasets, how do you plan to collect them?</a:t>
            </a:r>
          </a:p>
          <a:p>
            <a:r>
              <a:t>- What method or algorithm are you proposing? If there are existing implementations, will you use them</a:t>
            </a:r>
          </a:p>
          <a:p>
            <a:r>
              <a:t>and how? How do you plan to improve or modify such implementations?</a:t>
            </a:r>
          </a:p>
          <a:p>
            <a:r>
              <a:t>- What reading will you examine to provide context and background?</a:t>
            </a:r>
          </a:p>
          <a:p>
            <a:r>
              <a:t>- How will you evaluate your results? Qualitatively, what kind of results do you expect (e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plots or</a:t>
            </a:r>
          </a:p>
          <a:p>
            <a:r>
              <a:t>figures)? Quantitatively, what kind of analysis will you use to evaluate and/or compare your results (e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performance metrics or statistical tests)?</a:t>
            </a:r>
          </a:p>
          <a:p>
            <a:r>
              <a:t>FFeeii--FFeeii LLii &amp;&amp; AAnnddrreejj KKaarrppaatthhyy &amp;&amp; JJuussttiinn JJoohhnnssoonn LLeeccttuurree 77 -- 2 2277 JJaann 22001166</a:t>
            </a:r>
          </a:p>
          <a:p>
            <a:r>
              <a:t>Mini-batch SGD</a:t>
            </a:r>
          </a:p>
          <a:p>
            <a:r>
              <a:t>Loop:</a:t>
            </a:r>
          </a:p>
          <a:p>
            <a: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Forward prop it through the graph, get loss</a:t>
            </a:r>
          </a:p>
          <a:p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 the parameters using the gradient</a:t>
            </a:r>
          </a:p>
          <a:p>
            <a:r>
              <a:t>FFeeii--FFeeii LLii &amp;&amp; AAnnddrreejj KKaarrppaatthhyy &amp;&amp; JJuussttiinn JJoohhnnssoonn LLeeccttuurree 77 -- 3 2277 JJaann 22001166</a:t>
            </a:r>
          </a:p>
          <a:p>
            <a:r>
              <a:t>Parameter</a:t>
            </a:r>
          </a:p>
          <a:p>
            <a:r>
              <a:t>We covered:</a:t>
            </a:r>
          </a:p>
          <a:p>
            <a:r>
              <a:t>updates sgd,</a:t>
            </a:r>
          </a:p>
          <a:p>
            <a:r>
              <a:t>momentum,</a:t>
            </a:r>
          </a:p>
          <a:p>
            <a:r>
              <a:t>nag,</a:t>
            </a:r>
          </a:p>
          <a:p>
            <a:r>
              <a:t>adagrad,</a:t>
            </a:r>
          </a:p>
          <a:p>
            <a:r>
              <a:t>rmsprop,</a:t>
            </a:r>
          </a:p>
          <a:p>
            <a:r>
              <a:t>adam (not in this vis),</a:t>
            </a:r>
          </a:p>
          <a:p>
            <a:r>
              <a:t>we did not cover adadelta</a:t>
            </a:r>
          </a:p>
          <a:p>
            <a:r>
              <a:t>Image credits: Alec Radford</a:t>
            </a:r>
          </a:p>
          <a:p>
            <a:r>
              <a:t>FFeeii--FFeeii LLii &amp;&amp; AAnnddrreejj KKaarrppaatthhyy &amp;&amp; JJuussttiinn JJoohhnnssoonn LLeeccttuurree 77 -- 4 2277 JJaann 22001166</a:t>
            </a:r>
          </a:p>
          <a:p>
            <a:r>
              <a:t>Dropout</a:t>
            </a:r>
          </a:p>
          <a:p>
            <a:r>
              <a:t>Forces the network to have a redundant representation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 an ear X</a:t>
            </a:r>
          </a:p>
          <a:p>
            <a:r>
              <a:t>has a tail</a:t>
            </a:r>
          </a:p>
          <a:p>
            <a:r>
              <a:t>is furry X cat</a:t>
            </a:r>
          </a:p>
          <a:p>
            <a:r>
              <a:t>score</a:t>
            </a:r>
          </a:p>
          <a:p>
            <a:r>
              <a:t>has claws</a:t>
            </a:r>
          </a:p>
          <a:p>
            <a:r>
              <a:t>mischievous X</a:t>
            </a:r>
          </a:p>
          <a:p>
            <a:r>
              <a:t>look</a:t>
            </a:r>
          </a:p>
          <a:p>
            <a:r>
              <a:t>FFeeii--FFeeii LLii &amp;&amp; AAnnddrreejj KKaarrppaatthhyy &amp;&amp; JJuussttiinn JJoohhnnssoonn LLeeccttuurree 77 -- 5 2277 JJaann 22001166</a:t>
            </a:r>
          </a:p>
          <a:p>
            <a:r>
              <a:t>Convolutional Neural Networks</a:t>
            </a:r>
          </a:p>
          <a:p>
            <a:r>
              <a:t>[LeNet-5, LeCun 1980]</a:t>
            </a:r>
          </a:p>
          <a:p>
            <a:r>
              <a:t>FFeeii--FFeeii LLii &amp;&amp; AAnnddrreejj KKaarrppaatthhyy &amp;&amp; JJuussttiinn JJoohhnnssoonn LLeeccttuurree 77 -- 6 2277 JJaann 22001166</a:t>
            </a:r>
          </a:p>
          <a:p>
            <a:r>
              <a:t>A bit of history:</a:t>
            </a:r>
          </a:p>
          <a:p>
            <a:r>
              <a:t>Hubel &amp; Wiesel,</a:t>
            </a:r>
          </a:p>
          <a:p>
            <a:r>
              <a:t>1959</a:t>
            </a:r>
          </a:p>
          <a:p>
            <a:r>
              <a:t>RECEPTIVE FIELDS OF SINGLE</a:t>
            </a:r>
          </a:p>
          <a:p>
            <a:r>
              <a:t>NEURONES IN</a:t>
            </a:r>
          </a:p>
          <a:p>
            <a:r>
              <a:t>THE CAT'S STRIATE CORTEX</a:t>
            </a:r>
          </a:p>
          <a:p>
            <a:r>
              <a:t>1962</a:t>
            </a:r>
          </a:p>
          <a:p>
            <a:r>
              <a:t>RECEPTIVE FIELDS, BINOCULAR</a:t>
            </a:r>
          </a:p>
          <a:p>
            <a:r>
              <a:t>INTERACTION</a:t>
            </a:r>
          </a:p>
          <a:p>
            <a:r>
              <a:t>AND FUNCTIONAL ARCHITECTURE IN</a:t>
            </a:r>
          </a:p>
          <a:p>
            <a:r>
              <a:t>THE CAT'S VISUAL CORTEX</a:t>
            </a:r>
          </a:p>
          <a:p>
            <a:r>
              <a:t>1968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FFeeii--FFeeii LLii &amp;&amp; AAnnddrreejj KKaarrppaatthhyy &amp;&amp; JJuussttiinn JJoohhnnssoonn LLeeccttuurree 77 -- 7 2277 JJaann 22001166</a:t>
            </a:r>
          </a:p>
          <a:p>
            <a:r>
              <a:t>Hierarchical organization</a:t>
            </a:r>
          </a:p>
          <a:p>
            <a:r>
              <a:t>FFeeii--FFeeii LLii &amp;&amp; AAnnddrreejj KKaarrppaatthhyy &amp;&amp; JJuussttiinn JJoohhnnssoonn LLeeccttuurree 77 -- 8 2277 JJaann 22001166</a:t>
            </a:r>
          </a:p>
          <a:p>
            <a:r>
              <a:t>Convolutional Neural Networks</a:t>
            </a:r>
          </a:p>
          <a:p>
            <a:r>
              <a:t>(First without the brain stuff)</a:t>
            </a:r>
          </a:p>
          <a:p>
            <a:r>
              <a:t>FFeeii--FFeeii LLii &amp;&amp; AAnnddrreejj KKaarrppaatthhyy &amp;&amp; JJuussttiinn JJoohhnnssoonn LLeeccttuurree 77 -- 9 2277 JJaann 22001166</a:t>
            </a:r>
          </a:p>
          <a:p>
            <a:r>
              <a:t>Convolution Layer</a:t>
            </a:r>
          </a:p>
          <a:p>
            <a:r>
              <a:t>32x32x3 image</a:t>
            </a:r>
          </a:p>
          <a:p>
            <a:r>
              <a:t>height</a:t>
            </a:r>
          </a:p>
          <a:p>
            <a:r>
              <a:t>32</a:t>
            </a:r>
          </a:p>
          <a:p>
            <a:r>
              <a:t>width</a:t>
            </a:r>
          </a:p>
          <a:p>
            <a:r>
              <a:t>32</a:t>
            </a:r>
          </a:p>
          <a:p>
            <a:r>
              <a:t>depth</a:t>
            </a:r>
          </a:p>
          <a:p>
            <a:r>
              <a:t>3</a:t>
            </a:r>
          </a:p>
          <a:p>
            <a:r>
              <a:t>FFeeii--FFeeii LLii &amp;&amp; AAnnddrreejj KKaarrppaatthhyy &amp;&amp; JJuussttiinn JJoohhnnssoonn LLeeccttuurree 77 -- 10 2277 JJaann 22001166</a:t>
            </a:r>
          </a:p>
          <a:p>
            <a:r>
              <a:t>Convolution Layer</a:t>
            </a:r>
          </a:p>
          <a:p>
            <a:r>
              <a:t>32x32x3 image</a:t>
            </a:r>
          </a:p>
          <a:p>
            <a:r>
              <a:t>5x5x3 filter</a:t>
            </a:r>
          </a:p>
          <a:p>
            <a:r>
              <a:t>32</a:t>
            </a:r>
          </a:p>
          <a:p>
            <a:r>
              <a:t>Convolve the filter with the image</a:t>
            </a:r>
          </a:p>
          <a:p>
            <a:r>
              <a:t>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“slide over the image spatially,</a:t>
            </a:r>
          </a:p>
          <a:p>
            <a:r>
              <a:t>computing dot products”</a:t>
            </a:r>
          </a:p>
          <a:p>
            <a:r>
              <a:t>32</a:t>
            </a:r>
          </a:p>
          <a:p>
            <a:r>
              <a:t>3</a:t>
            </a:r>
          </a:p>
          <a:p>
            <a:r>
              <a:t>FFeeii--FFeeii LLii &amp;&amp; AAnnddrreejj KKaarrppaatthhyy &amp;&amp; JJuussttiinn JJoohhnnssoonn LLeeccttuurree 77 -- 11 2277 JJaann 22001166</a:t>
            </a:r>
          </a:p>
          <a:p>
            <a:r>
              <a:t>Convolution Layer</a:t>
            </a:r>
          </a:p>
          <a:p>
            <a:r>
              <a:t>Filters always extend the full</a:t>
            </a:r>
          </a:p>
          <a:p>
            <a:r>
              <a:t>depth of the input volume</a:t>
            </a:r>
          </a:p>
          <a:p>
            <a:r>
              <a:t>32x32x3 image</a:t>
            </a:r>
          </a:p>
          <a:p>
            <a:r>
              <a:t>5x5x3 filter</a:t>
            </a:r>
          </a:p>
          <a:p>
            <a:r>
              <a:t>32</a:t>
            </a:r>
          </a:p>
          <a:p>
            <a:r>
              <a:t>Convolve the filter with the image</a:t>
            </a:r>
          </a:p>
          <a:p>
            <a:r>
              <a:t>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